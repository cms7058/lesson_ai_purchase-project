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6199e0f54048ce" /><Relationship Type="http://schemas.openxmlformats.org/officeDocument/2006/relationships/extended-properties" Target="/docProps/app.xml" Id="Rc4d7f1d3f021433b" /><Relationship Type="http://schemas.openxmlformats.org/officeDocument/2006/relationships/officeDocument" Target="/ppt/presentation.xml" Id="Rcf68856bdb4c41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85ba6884ef421f"/>
  </p:sldMasterIdLst>
  <p:notesMasterIdLst>
    <p:notesMasterId xmlns:r="http://schemas.openxmlformats.org/officeDocument/2006/relationships" r:id="Rfd5d3ccccf834c16"/>
  </p:notesMasterIdLst>
  <p:sldIdLst>
    <p:sldId xmlns:r="http://schemas.openxmlformats.org/officeDocument/2006/relationships" id="256" r:id="R747e16a8ffce4899"/>
    <p:sldId xmlns:r="http://schemas.openxmlformats.org/officeDocument/2006/relationships" id="257" r:id="R611330730fe24b52"/>
    <p:sldId xmlns:r="http://schemas.openxmlformats.org/officeDocument/2006/relationships" id="258" r:id="Rdb64083da2a34a23"/>
    <p:sldId xmlns:r="http://schemas.openxmlformats.org/officeDocument/2006/relationships" id="259" r:id="R40df291800904676"/>
    <p:sldId xmlns:r="http://schemas.openxmlformats.org/officeDocument/2006/relationships" id="260" r:id="Ra4af1ec9c42c4a99"/>
    <p:sldId xmlns:r="http://schemas.openxmlformats.org/officeDocument/2006/relationships" id="261" r:id="R799b99361874468d"/>
    <p:sldId xmlns:r="http://schemas.openxmlformats.org/officeDocument/2006/relationships" id="262" r:id="Rea21e954e6584c4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9aee25cb7e4412" /><Relationship Type="http://schemas.openxmlformats.org/officeDocument/2006/relationships/slideMaster" Target="/ppt/slideMasters/slideMaster1.xml" Id="R8a85ba6884ef421f" /><Relationship Type="http://schemas.openxmlformats.org/officeDocument/2006/relationships/notesMaster" Target="/ppt/notesMasters/notesMaster1.xml" Id="Rfd5d3ccccf834c16" /><Relationship Type="http://schemas.openxmlformats.org/officeDocument/2006/relationships/presProps" Target="/ppt/presProps.xml" Id="R5e0067fbab5a4366" /><Relationship Type="http://schemas.openxmlformats.org/officeDocument/2006/relationships/tableStyles" Target="/ppt/tableStyles.xml" Id="R23b2c0b53059467a" /><Relationship Type="http://schemas.openxmlformats.org/officeDocument/2006/relationships/slide" Target="/ppt/slides/slide1.xml" Id="R747e16a8ffce4899" /><Relationship Type="http://schemas.openxmlformats.org/officeDocument/2006/relationships/slide" Target="/ppt/slides/slide2.xml" Id="R611330730fe24b52" /><Relationship Type="http://schemas.openxmlformats.org/officeDocument/2006/relationships/slide" Target="/ppt/slides/slide3.xml" Id="Rdb64083da2a34a23" /><Relationship Type="http://schemas.openxmlformats.org/officeDocument/2006/relationships/slide" Target="/ppt/slides/slide4.xml" Id="R40df291800904676" /><Relationship Type="http://schemas.openxmlformats.org/officeDocument/2006/relationships/slide" Target="/ppt/slides/slide5.xml" Id="Ra4af1ec9c42c4a99" /><Relationship Type="http://schemas.openxmlformats.org/officeDocument/2006/relationships/slide" Target="/ppt/slides/slide6.xml" Id="R799b99361874468d" /><Relationship Type="http://schemas.openxmlformats.org/officeDocument/2006/relationships/slide" Target="/ppt/slides/slide7.xml" Id="Rea21e954e6584c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0979b386bf43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b973bde75544cb" /><Relationship Type="http://schemas.openxmlformats.org/officeDocument/2006/relationships/notesMaster" Target="/ppt/notesMasters/notesMaster1.xml" Id="R04fd5c25aff940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8d3fbd7f4046d3" /><Relationship Type="http://schemas.openxmlformats.org/officeDocument/2006/relationships/notesMaster" Target="/ppt/notesMasters/notesMaster1.xml" Id="R14569d5fa84b42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24fe44dc7f4a65" /><Relationship Type="http://schemas.openxmlformats.org/officeDocument/2006/relationships/notesMaster" Target="/ppt/notesMasters/notesMaster1.xml" Id="Rc2d9ff33023649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969a2dd4114084" /><Relationship Type="http://schemas.openxmlformats.org/officeDocument/2006/relationships/notesMaster" Target="/ppt/notesMasters/notesMaster1.xml" Id="Rc5a6b31e2a8649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fc537436ae417d" /><Relationship Type="http://schemas.openxmlformats.org/officeDocument/2006/relationships/notesMaster" Target="/ppt/notesMasters/notesMaster1.xml" Id="R81fec84451cb41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193cd81402429a" /><Relationship Type="http://schemas.openxmlformats.org/officeDocument/2006/relationships/notesMaster" Target="/ppt/notesMasters/notesMaster1.xml" Id="Rb0f6e03174224a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89d9adfbe9492a" /><Relationship Type="http://schemas.openxmlformats.org/officeDocument/2006/relationships/notesMaster" Target="/ppt/notesMasters/notesMaster1.xml" Id="R465d488b9e484f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907d09c2a4d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5ea6b76e964ab4" /><Relationship Type="http://schemas.openxmlformats.org/officeDocument/2006/relationships/slideLayout" Target="/ppt/slideLayouts/slideLayout1.xml" Id="R23660c752aa945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660c752aa945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38869b9024a3c" /><Relationship Type="http://schemas.openxmlformats.org/officeDocument/2006/relationships/notesSlide" Target="/ppt/notesSlides/notesSlide1.xml" Id="R5016da3de5314c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f4ce5da594fae" /><Relationship Type="http://schemas.openxmlformats.org/officeDocument/2006/relationships/notesSlide" Target="/ppt/notesSlides/notesSlide2.xml" Id="R385e8bdafeca40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2ba0d4a5d4caa" /><Relationship Type="http://schemas.openxmlformats.org/officeDocument/2006/relationships/chart" Target="/ppt/slides/charts/chart1.xml" Id="R9604235e9f7d46fa" /><Relationship Type="http://schemas.openxmlformats.org/officeDocument/2006/relationships/notesSlide" Target="/ppt/notesSlides/notesSlide3.xml" Id="R75eebb60f91541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323dc6b7f40de" /><Relationship Type="http://schemas.openxmlformats.org/officeDocument/2006/relationships/chart" Target="/ppt/slides/charts/chart2.xml" Id="Ra7e0aa1cc5ab4745" /><Relationship Type="http://schemas.openxmlformats.org/officeDocument/2006/relationships/notesSlide" Target="/ppt/notesSlides/notesSlide4.xml" Id="R060641d43c634f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5d8a242e9477d" /><Relationship Type="http://schemas.openxmlformats.org/officeDocument/2006/relationships/notesSlide" Target="/ppt/notesSlides/notesSlide5.xml" Id="Rec7ce2be095146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b2136d4904f3b" /><Relationship Type="http://schemas.openxmlformats.org/officeDocument/2006/relationships/notesSlide" Target="/ppt/notesSlides/notesSlide6.xml" Id="Re61d5316937c43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c44049fa04319" /><Relationship Type="http://schemas.openxmlformats.org/officeDocument/2006/relationships/notesSlide" Target="/ppt/notesSlides/notesSlide7.xml" Id="Rd3dcfa3c8e454d0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报价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3"/>
              <c:pt idx="0">
                <c:v>供应商A</c:v>
              </c:pt>
              <c:pt idx="1">
                <c:v>供应商B</c:v>
              </c:pt>
              <c:pt idx="2">
                <c:v>供应商C</c:v>
              </c:pt>
            </c:strLit>
          </c:cat>
          <c:val>
            <c:numLit>
              <c:formatCode>General</c:formatCode>
              <c:ptCount val="3"/>
              <c:pt idx="0">
                <c:v>96</c:v>
              </c:pt>
              <c:pt idx="1">
                <c:v>99</c:v>
              </c:pt>
              <c:pt idx="2">
                <c:v>94</c:v>
              </c:pt>
            </c:numLit>
          </c:val>
        </c:ser>
        <c:ser>
          <c:idx val="1"/>
          <c:order val="1"/>
          <c:tx>
            <c:v>到厂价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供应商A</c:v>
              </c:pt>
              <c:pt idx="1">
                <c:v>供应商B</c:v>
              </c:pt>
              <c:pt idx="2">
                <c:v>供应商C</c:v>
              </c:pt>
            </c:strLit>
          </c:cat>
          <c:val>
            <c:numLit>
              <c:formatCode>General</c:formatCode>
              <c:ptCount val="3"/>
              <c:pt idx="0">
                <c:v>101</c:v>
              </c:pt>
              <c:pt idx="1">
                <c:v>100</c:v>
              </c:pt>
              <c:pt idx="2">
                <c:v>105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B7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8"/>
          <c:min val="8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9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B7A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F6B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表面报价指数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3"/>
              <c:pt idx="0">
                <c:v>C</c:v>
              </c:pt>
              <c:pt idx="1">
                <c:v>B</c:v>
              </c:pt>
              <c:pt idx="2">
                <c:v>A</c:v>
              </c:pt>
            </c:strLit>
          </c:cat>
          <c:val>
            <c:numLit>
              <c:formatCode>General</c:formatCode>
              <c:ptCount val="3"/>
              <c:pt idx="0">
                <c:v>94</c:v>
              </c:pt>
              <c:pt idx="1">
                <c:v>99</c:v>
              </c:pt>
              <c:pt idx="2">
                <c:v>96</c:v>
              </c:pt>
            </c:numLit>
          </c:val>
        </c:ser>
        <c:ser>
          <c:idx val="1"/>
          <c:order val="1"/>
          <c:tx>
            <c:v>预测实际成本指数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C</c:v>
              </c:pt>
              <c:pt idx="1">
                <c:v>B</c:v>
              </c:pt>
              <c:pt idx="2">
                <c:v>A</c:v>
              </c:pt>
            </c:strLit>
          </c:cat>
          <c:val>
            <c:numLit>
              <c:formatCode>General</c:formatCode>
              <c:ptCount val="3"/>
              <c:pt idx="0">
                <c:v>109</c:v>
              </c:pt>
              <c:pt idx="1">
                <c:v>98</c:v>
              </c:pt>
              <c:pt idx="2">
                <c:v>103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9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6B7A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827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F6B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CCFA3-EF20-4784-95ED-C7FFCF84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E3477-DA1F-41B9-8543-0BBAEB61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PEBS COPILOT PURCHASE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5BCF8-25A4-449A-BFBA-F19844BD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AI驱动采购决策升级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28F97-BB6B-450B-8C49-7FA912A9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95600"/>
            <a:ext cx="800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让报价、成本、供应商与物流方案</a:t>
            </a:r>
          </a:p>
          <a:p xmlns:a="http://schemas.openxmlformats.org/drawingml/2006/main">
            <a:pPr algn="l">
              <a:defRPr sz="21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从“人工整理”走向“可计算、可解释、可追溯”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 flipV="0">
            <a:off x="476250" y="4457700"/>
            <a:ext cx="685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827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2A808-BCEB-423E-A54E-92794B5E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863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制造业采购AI智能体｜亮点功能方案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7D33A-47B2-405D-8A3C-B85555E3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基于系统需求规格说明书 V1.1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BE0C2-5CBE-475D-B773-6072FED3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2305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DB0B3-9E7C-4C79-9B5B-BC771DC1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907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识别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E87B6-8D5E-4814-99A6-05AEA408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908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7A881-9C46-4F2E-BB07-29AF8A0D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90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优化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 flipV="0">
            <a:off x="9258300" y="23431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 flipV="0">
            <a:off x="9258300" y="31432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5149B-F78B-466C-A64C-5B141A13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3436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2026.07</a:t>
            </a:r>
          </a:p>
        </p:txBody>
      </p:sp>
    </p:spTree>
    <p:extLst>
      <p:ext uri="{BB962C8B-B14F-4D97-AF65-F5344CB8AC3E}">
        <p14:creationId xmlns:p14="http://schemas.microsoft.com/office/powerpoint/2010/main" val="12451494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8BD162-C560-495C-A6F1-0FF10715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总体能力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C6B95-1A99-43C1-8FF4-F4DFD56B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AI不是单点工具，而是贯穿采购闭环的决策助手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2B1AC-871B-4616-82B9-3BD2FBBD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8A3DC-4193-4ED5-B41B-2F26F1E9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 flipV="0">
            <a:off x="1866900" y="2914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5" name=""/>
          <p:cNvCxnSpPr/>
          <p:nvPr/>
        </p:nvCxnSpPr>
        <p:spPr>
          <a:xfrm xmlns:a="http://schemas.openxmlformats.org/drawingml/2006/main" flipV="0">
            <a:off x="3829050" y="2914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 flipV="0">
            <a:off x="5791200" y="2914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7" name=""/>
          <p:cNvCxnSpPr/>
          <p:nvPr/>
        </p:nvCxnSpPr>
        <p:spPr>
          <a:xfrm xmlns:a="http://schemas.openxmlformats.org/drawingml/2006/main" flipV="0">
            <a:off x="7753350" y="2914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8" name=""/>
          <p:cNvCxnSpPr/>
          <p:nvPr/>
        </p:nvCxnSpPr>
        <p:spPr>
          <a:xfrm xmlns:a="http://schemas.openxmlformats.org/drawingml/2006/main" flipV="0">
            <a:off x="9715500" y="2914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78CBD-6402-4B43-8DAB-5AA0E68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1409700" cy="15240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C3398-0974-4BAF-B566-A9423450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C2F7B-20C5-4C83-B9AB-7B4CB3E9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多源输入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06FD4-81F6-40F2-8D57-0B2F42EB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69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报价单 / 合同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ERP / QMS / 市场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55FE28-94FB-498B-B9F5-277C019D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52650"/>
            <a:ext cx="1409700" cy="15240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66A56A-9A05-4453-AD38-0839057F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05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17984-C1E7-4C84-AB4F-FBDDE619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479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3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识别标准化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727D9-0712-477A-920A-3E8051F1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05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OCR抽取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主数据与口径统一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1F6039-853C-4A6E-9B6C-3F9CCE7A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52650"/>
            <a:ext cx="1409700" cy="15240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38E41-3AF7-4EE9-86DE-962005D8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05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83B41E-D968-48A4-99B8-3EC812A0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3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数据与知识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E92DDF-D406-4176-8BA2-09045292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历史采购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供应商360 / 制度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D0AD42-AEBC-4352-B505-DF5970E6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1409700" cy="15240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AF0857-ABB7-4F63-B235-31238E51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CCAEDE-CDC3-4B0F-9447-808123A5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3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模型与求解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6D1F49-12DE-403A-A08B-9A9207A1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05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7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回归 / 预测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TCO / 路径优化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C0F1A7-9FBA-4E0E-90B0-BBE592A3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52650"/>
            <a:ext cx="1409700" cy="15240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38638B-87B0-41E3-8C4E-17C0CDDF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05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F4B6A3-BE1B-408A-B889-48E32F6A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479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决策输出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5A41A7-CD41-4F42-B851-DA624A5A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91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自动比价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排序 / 风险 / 建议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AB4D60-A62C-4772-8333-C9884B45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152650"/>
            <a:ext cx="1409700" cy="15240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D38136-3159-4C55-B4BE-8A9A325E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05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CCDE52-1146-4CF0-A7FD-0EA1E0C2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479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人工确认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997302-FFAD-4C6A-9F94-41B4EE0D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051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审批 / 回写</a:t>
            </a:r>
          </a:p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版本 / 审计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AD4BEF-4634-4F6D-99A9-B9AB0BE6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六类核心工作台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C6566D-CB2E-4C68-84D7-ED0904DF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1562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EDA65E-A6A3-4658-BE77-A3ED7BA8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市场洞察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F5359A-685A-4F5C-9148-B4C8A23E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1562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2A205A-7818-4C43-B4E4-EA53766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101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需求计划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23CE86-BA2A-46FD-9B90-09F05BBA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1562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C43675-35A0-4BA0-A717-D1176DE7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101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寻源比价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F12325-473C-4CCE-BA9A-A4960AA4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43450"/>
            <a:ext cx="1562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772A0E-6A8A-480D-8C94-69B1EF4B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01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成本分析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88ADB6-B8DE-4102-A8F2-340072BA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43450"/>
            <a:ext cx="1562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C286B3-93A7-4503-81F5-5A12B14C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101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供应商管理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735375-15DA-4CF4-B450-6F5AA445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43450"/>
            <a:ext cx="15621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E9D77A-B442-4FCA-BC1E-1DF04095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101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合同履约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469157-939A-4F78-B630-A9794132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关键原则：结构化计算由统计模型和优化算法完成；AI负责理解任务、调用工具并解释结果。</a:t>
            </a:r>
          </a:p>
        </p:txBody>
      </p:sp>
    </p:spTree>
    <p:extLst>
      <p:ext uri="{BB962C8B-B14F-4D97-AF65-F5344CB8AC3E}">
        <p14:creationId xmlns:p14="http://schemas.microsoft.com/office/powerpoint/2010/main" val="1977676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D31C1AE-C956-4F6F-BFB6-11CA13D0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亮点 01｜报价单识别与自动比价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95B5C-BE37-45BD-B58E-B67210E5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报价单识别后自动统一口径，比价从“抄表”变成“审差异”</a:t>
            </a:r>
          </a:p>
        </p:txBody>
      </p:sp>
      <p:cxnSp>
        <p:nvCxnSpPr>
          <p:cNvPr id="80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D98AB-41AA-4C82-B9FE-E3F2A74A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C5D70-9474-445E-B3B7-BD073FCB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741DC-770A-4C36-A267-B46C75FE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上传即处理</a:t>
            </a:r>
          </a:p>
        </p:txBody>
      </p:sp>
      <p:cxnSp>
        <p:nvCxnSpPr>
          <p:cNvPr id="84" name=""/>
          <p:cNvCxnSpPr/>
          <p:nvPr/>
        </p:nvCxnSpPr>
        <p:spPr>
          <a:xfrm xmlns:a="http://schemas.openxmlformats.org/drawingml/2006/main" flipV="0">
            <a:off x="914400" y="254317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85" name=""/>
          <p:cNvCxnSpPr/>
          <p:nvPr/>
        </p:nvCxnSpPr>
        <p:spPr>
          <a:xfrm xmlns:a="http://schemas.openxmlformats.org/drawingml/2006/main" flipV="0">
            <a:off x="914400" y="341947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cxnSp>
        <p:nvCxnSpPr>
          <p:cNvPr id="86" name=""/>
          <p:cNvCxnSpPr/>
          <p:nvPr/>
        </p:nvCxnSpPr>
        <p:spPr>
          <a:xfrm xmlns:a="http://schemas.openxmlformats.org/drawingml/2006/main" flipV="0">
            <a:off x="914400" y="429577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8C19D-BE51-41CC-811B-5D0949A1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3124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F251C-54DD-46DA-900D-1F83C518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98EB8-6CEA-402E-A7DC-F11F6E88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识别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E41BA-055A-428F-A3D2-4BD9626A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193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66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PDF / Excel / 图片 / 扫描件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AB8E2-F617-4202-BD63-6497402A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124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16DE7-E4B6-4B65-BD73-E1ADEB17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7EE447-6D53-4FAB-AC17-55CAD018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抽取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B8C80-7A81-4516-9392-7FFB5C4A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956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物料、规格、价格、交期、条款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64FE9-6CCD-4F29-AF5E-0ECE7755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3124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E62E6-08CC-46CD-B8A6-88635D1A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05EDAE-77D6-454B-86E4-92140757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标准化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9AF73B-8BA8-4DB8-826C-0D952A24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719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币种、税率、单位、MOQ、运费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EA0E33-492E-47F8-8E9B-6C416FF8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3124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7706AD-2E83-49F9-9F71-B39DC3E8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35BC2-D7FB-44C4-A027-249FF063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校验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A2A9C0-1DB1-4B12-871E-E27068A2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4820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缺项、异常价、规格差异、低置信度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CCD1D7-BD2E-4A0C-BE79-814AE225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409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自动比价结果（示例）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593C7-95BA-4EDF-8868-73B0B931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6690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A6E77A-D304-4F3D-9747-EE027868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00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供应商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CFBD06-0850-476E-A63E-29659EE9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669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57F3D8-4C89-4461-9584-A59E8AE8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00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报价/件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BAF53B-0AF4-4F18-B380-9CE1E611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669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B94BCE-D23F-40FA-8441-2AA1F9E1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到厂价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CF292C-3258-442F-A9EE-10A133D1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669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C8C743-A23B-4C30-AB04-28F16148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交期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884BFE-F9FB-474E-A059-E6AC5687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669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0B9D84-E408-46B1-B4DE-F4405EF8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质量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C61568-243A-43BA-A089-9D346A63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8669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E30DF2-4AD6-486C-B829-BC50B7A1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0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综合结论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CDC7E4-8887-4D3E-B194-89778C07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1935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E0580E-F16A-4EED-ABFB-EE2425C2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527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5865CD-5BBD-4E0C-AC9B-DF57E4E6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193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8EF6A9-9A48-4F15-B73F-207E49EF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52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¥ 96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76E087-4230-4FB2-92CC-1E190944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193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40A55E-9E6F-44AA-91E5-1B5A7327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¥ 101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8643B5-43BC-4E93-9D7A-99E063A0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193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3508BD-E619-4528-8D7A-D76135B2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18天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289F82-EE46-4F29-932E-D4E6EA1C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193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BE0E1EF-2B42-4790-91EE-42617392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98.5%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4F3759-1FA7-4FCE-B094-8FE2BE3F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4193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C50CAC-A326-466F-B5D7-04CB2CD9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52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最低报价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2A2BF8-3E85-4B55-8B55-2153A06C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5957FF-574A-4170-AE7F-017545B4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051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供应商B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4EB26F-3F8F-4819-91FA-ED7081CD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718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F61E29-FC7B-428B-9E84-87B97D97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05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¥ 99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BE55D3-A66C-4925-9FEC-EBE4E4AB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718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BBBC75E-4801-4934-B8B8-E276BDF5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51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¥ 100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4547DC4-79CD-4458-93EB-D995D90D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718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8D685A3-E32C-4068-836D-D102D90A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14天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83F5EDD-AF85-44A7-952A-19EBA87D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7180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4259CE-C8AF-4ACD-9406-31CF374E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051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99.2%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B7D059-A535-48AB-BDFE-7B5BAF4B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7180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4F2F2A-4633-4535-AD35-56260E7C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05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最低TCO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EFAA826-48FE-42EB-A1ED-C11EBFCC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2425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3DE4B0-7461-40D2-A862-357C32C2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57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供应商C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3E61A37-00E7-4B90-93A1-91A98EC1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242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C2EB7B7-034A-4CD3-A5B2-7BA9D2A9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57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¥ 94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D76666-E72F-4AD3-B23D-8F3EFD9D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242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AA50062-C398-4480-9686-48B56A32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¥ 105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B2166B4-9B15-4C88-B360-E1221B23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242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AE6B8B0-8560-49E4-A781-C0A8519F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57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26天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3F8D5A4-8A60-4FBD-B438-E16C279A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24250"/>
            <a:ext cx="1238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9530DBD-1856-4330-8A85-A29CDAA3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57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97.8%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A3B1CA0-5378-42A4-A84C-72713474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242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702B45A-6CD0-4158-8590-FBD015A5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657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D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E85D5D"/>
                </a:solidFill>
                <a:latin typeface="Arial Unicode MS"/>
                <a:ea typeface="Arial Unicode MS"/>
                <a:cs typeface="Arial Unicode MS"/>
              </a:rPr>
              <a:t>需澄清</a:t>
            </a:r>
          </a:p>
        </p:txBody>
      </p:sp>
      <p:graphicFrame>
        <p:nvGraphicFramePr>
          <p:cNvPr id="152" name="Chart"/>
          <p:cNvGraphicFramePr/>
          <p:nvPr/>
        </p:nvGraphicFramePr>
        <p:xfrm>
          <a:off xmlns:a="http://schemas.openxmlformats.org/drawingml/2006/main" x="3943350" y="4267200"/>
          <a:ext xmlns:a="http://schemas.openxmlformats.org/drawingml/2006/main" cx="6610350" cy="1619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04235e9f7d46fa"/>
          </a:graphicData>
        </a:graphic>
      </p:graphicFrame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72B6145-B224-42F5-94CA-1C182E2E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390650"/>
            <a:ext cx="31813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04C0BF2-804C-471C-A88A-EF7342E6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573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输出：最低报价 / 最低TCO / 最高综合分 / 最低风险</a:t>
            </a:r>
          </a:p>
        </p:txBody>
      </p:sp>
    </p:spTree>
    <p:extLst>
      <p:ext uri="{BB962C8B-B14F-4D97-AF65-F5344CB8AC3E}">
        <p14:creationId xmlns:p14="http://schemas.microsoft.com/office/powerpoint/2010/main" val="6787986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BDE85E-2E65-493F-94CF-F80713E1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亮点 02｜多元回归招标评价 + TCO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39238-E6E9-42DD-BABF-463A8CC4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中标评价不只看单价：用多元回归预测“实际采购成本”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7921D-5849-436B-A0A4-6F61DF08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14A56-FF78-4BA4-97FC-359BC5C9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51B9D-FE75-4D97-84D0-F67D4F36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5010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76444-803F-4804-9D2E-D049A79E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实际采购成本 =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3DC17-FB34-449E-A779-6BE97F2D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192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0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采购价 + 物流 + 延期损失 + 质量损失</a:t>
            </a:r>
          </a:p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+ 服务损失 + 资金成本 + 其他认可成本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82AE9-5270-47F1-9737-DB69B43B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模型输入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3993E-4E5E-49DD-8B0E-564D0FF8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2209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A5A44-0C76-4226-9663-18AF741D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采购价格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56039-BF7C-40D0-9147-F56B89A8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242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¥ / 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FA046-8158-48C6-A68B-7EFEAD88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19450"/>
            <a:ext cx="2209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659F6-70A1-48E1-974E-D0EAD11D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147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延期天数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E5932-F7BF-4B13-9716-8074EEBF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242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B25B8-7CAB-430D-8619-11FDC44F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2209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49A6E0-3C25-4FE6-B53F-8DC63740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响应时间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3734F-7EB7-4CB5-B29A-6687370C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766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小时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20B663-9D86-407D-BA73-EA0658B4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71900"/>
            <a:ext cx="2209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68F43-E0CF-48B4-BDB7-D17A11D0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67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不良率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7D6013-678B-432D-9720-564FDF95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766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F25BB4-F88D-447B-BDC4-81C5D905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2209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B61D9B-0CD6-4172-8694-D6A666C0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返修率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EE63D2-36AB-49D2-9D10-E5DAA3D4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29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DDE60C-B0BC-4BBA-861D-7962DFBA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24350"/>
            <a:ext cx="2209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A56A78-224B-4F5D-B18C-D50A8FBE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196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物流成本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E8B5CB-450D-4207-91B7-71FFB488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29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2A75A1-DF7C-4215-B551-CE0B1C32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2209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83B5E9-19F0-4332-A292-54E69D1D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720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付款成本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2F934C-5BF1-4430-849C-7B7888FE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81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8BCD3F-3DA1-44A3-8961-42E78D2A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β0 + β1×价格 + β2×延期 + β3×响应 + β4×不良率 + 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9EB77E-3EDF-4450-B596-ABDCE9B9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478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投标评价结果（示例，指数化）</a:t>
            </a:r>
          </a:p>
        </p:txBody>
      </p:sp>
      <p:graphicFrame>
        <p:nvGraphicFramePr>
          <p:cNvPr id="82" name="Chart"/>
          <p:cNvGraphicFramePr/>
          <p:nvPr/>
        </p:nvGraphicFramePr>
        <p:xfrm>
          <a:off xmlns:a="http://schemas.openxmlformats.org/drawingml/2006/main" x="5962650" y="1866900"/>
          <a:ext xmlns:a="http://schemas.openxmlformats.org/drawingml/2006/main" cx="5829300" cy="2990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e0aa1cc5ab4745"/>
          </a:graphicData>
        </a:graphic>
      </p:graphicFrame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182DFE-0706-41A1-BE17-F78DD527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43125"/>
            <a:ext cx="5905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894959-B61E-4EB6-8354-C2FC665C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00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01133A-E7C0-40BA-A47C-15EC15E6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051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7E843B-5288-48C2-BB38-1C09FC15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10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1D7309-34C2-4B15-8ECC-0DCD8C20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10150"/>
            <a:ext cx="5829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062721-D368-4060-A85C-362C7CF8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006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推荐结论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46DCED-63D1-41F1-97E5-337AC7EC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424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供应商B虽非最低报价，但在交付、质量与服务损失计入后，预测实际成本最低。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BFAEB0-85CB-4A5D-8B0E-ED3EAB84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62600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53587D-DAB4-4F2D-AB95-A76F3D6E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292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可解释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A796A2-5905-4642-B421-8C6540F3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62600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C07153-1E35-4E7A-9397-960EFF6D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292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可诊断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DC14A2-6C4F-46FF-9279-350FDCF4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62600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C07895-F180-443E-A977-308A70B8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292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可版本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5320D4-605B-4AA3-A110-42D08941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562600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99B07D-6ED0-4DEE-9418-BACBAE60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6292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可回滚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F698E2-A334-4F06-8E36-1E60169A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924550"/>
            <a:ext cx="2533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图表数据为演示示例，不代表客户实际结果。</a:t>
            </a:r>
          </a:p>
        </p:txBody>
      </p:sp>
    </p:spTree>
    <p:extLst>
      <p:ext uri="{BB962C8B-B14F-4D97-AF65-F5344CB8AC3E}">
        <p14:creationId xmlns:p14="http://schemas.microsoft.com/office/powerpoint/2010/main" val="21148345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E9FECE-C9C5-4EBC-BDED-5691393D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亮点 03｜供货分配与交货路径优化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1B738-CB76-4BF6-860F-51B815EE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多工厂供货路径优化，在成本、交期与风险之间求最优解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872CF-CBAB-4EC5-BA3D-F2E12B50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6A75D-3B6D-48B9-B4FC-C93AEF29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 flipV="0">
            <a:off x="1885950" y="2209800"/>
            <a:ext cx="238125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DCBF4"/>
            </a:solidFill>
            <a:prstDash val="solid"/>
          </a:ln>
        </p:spPr>
      </p:cxnSp>
      <p:cxnSp>
        <p:nvCxnSpPr>
          <p:cNvPr id="61" name=""/>
          <p:cNvCxnSpPr/>
          <p:nvPr/>
        </p:nvCxnSpPr>
        <p:spPr>
          <a:xfrm xmlns:a="http://schemas.openxmlformats.org/drawingml/2006/main" flipV="1">
            <a:off x="1885950" y="2762250"/>
            <a:ext cx="238125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cxnSp>
        <p:nvCxnSpPr>
          <p:cNvPr id="62" name=""/>
          <p:cNvCxnSpPr/>
          <p:nvPr/>
        </p:nvCxnSpPr>
        <p:spPr>
          <a:xfrm xmlns:a="http://schemas.openxmlformats.org/drawingml/2006/main" flipV="1">
            <a:off x="1885950" y="2762250"/>
            <a:ext cx="238125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dash"/>
          </a:ln>
        </p:spPr>
      </p:cxnSp>
      <p:cxnSp>
        <p:nvCxnSpPr>
          <p:cNvPr id="63" name=""/>
          <p:cNvCxnSpPr/>
          <p:nvPr/>
        </p:nvCxnSpPr>
        <p:spPr>
          <a:xfrm xmlns:a="http://schemas.openxmlformats.org/drawingml/2006/main" flipV="1">
            <a:off x="5276850" y="2076450"/>
            <a:ext cx="20764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cxnSp>
        <p:nvCxnSpPr>
          <p:cNvPr id="64" name=""/>
          <p:cNvCxnSpPr/>
          <p:nvPr/>
        </p:nvCxnSpPr>
        <p:spPr>
          <a:xfrm xmlns:a="http://schemas.openxmlformats.org/drawingml/2006/main" flipV="0">
            <a:off x="5276850" y="2743200"/>
            <a:ext cx="20764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DCBF4"/>
            </a:solidFill>
            <a:prstDash val="solid"/>
          </a:ln>
        </p:spPr>
      </p:cxnSp>
      <p:cxnSp>
        <p:nvCxnSpPr>
          <p:cNvPr id="65" name=""/>
          <p:cNvCxnSpPr/>
          <p:nvPr/>
        </p:nvCxnSpPr>
        <p:spPr>
          <a:xfrm xmlns:a="http://schemas.openxmlformats.org/drawingml/2006/main" flipV="0">
            <a:off x="5276850" y="2743200"/>
            <a:ext cx="2076450" cy="16764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dash"/>
          </a:ln>
        </p:spPr>
      </p:cxnSp>
      <p:cxnSp>
        <p:nvCxnSpPr>
          <p:cNvPr id="66" name=""/>
          <p:cNvCxnSpPr/>
          <p:nvPr/>
        </p:nvCxnSpPr>
        <p:spPr>
          <a:xfrm xmlns:a="http://schemas.openxmlformats.org/drawingml/2006/main" flipV="1">
            <a:off x="5276850" y="3486150"/>
            <a:ext cx="207645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59E0B"/>
            </a:solidFill>
            <a:prstDash val="solid"/>
          </a:ln>
        </p:spPr>
      </p:cxnSp>
      <p:cxnSp>
        <p:nvCxnSpPr>
          <p:cNvPr id="67" name=""/>
          <p:cNvCxnSpPr/>
          <p:nvPr/>
        </p:nvCxnSpPr>
        <p:spPr>
          <a:xfrm xmlns:a="http://schemas.openxmlformats.org/drawingml/2006/main" flipV="0">
            <a:off x="5276850" y="4267200"/>
            <a:ext cx="207645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CB17D-3081-4E46-8B56-B72F4C54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895405-C5AC-41BC-AF6F-7DCFEE57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466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网络节点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84C30-A5D0-44FE-AC84-726D50E5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66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需求端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C134D-02BB-40EB-9EC9-2F405CE3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48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2297B7-BB0A-4FE4-ABD6-98BA6465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59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供应商S1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2EF30E-26C2-49BB-9C92-72CF203E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19400"/>
            <a:ext cx="148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52768-841A-4A3E-823D-EEA25D80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813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供应商S2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82024-5961-4538-B7AB-803CA657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485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E4636D-EF08-426C-93B1-94692859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766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供应商S3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02A613-57FA-4122-ABCD-EF551280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38400"/>
            <a:ext cx="1009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58B1AB-AFFD-40A3-997E-75614E47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3842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区域仓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27C3BC-8D6E-44DF-87D3-08811A21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43350"/>
            <a:ext cx="1009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35B627-6295-401F-8CD5-5EA7C938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中转仓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957EDE-7C95-4BE2-9972-CE93772F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9750"/>
            <a:ext cx="1371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0C79A8-1281-4752-83D7-92E7F06F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7167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工厂A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8FEA10-8454-44A6-9FD4-EC3ED668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19450"/>
            <a:ext cx="1371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2536E8-74DB-463E-9268-8E8A3743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8137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工厂B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D3342E-9F48-4DC8-B4AA-CC76E48A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52900"/>
            <a:ext cx="13716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FFF869-89DE-4E88-9143-925A9D85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148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工厂C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FC1EB9-E428-45BB-A7F3-ACEFF3FC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43100"/>
            <a:ext cx="781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317EB9-CCC0-423B-9C70-757C82FA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97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直送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85C64B-7A24-4957-9C60-F8CC60C5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90900"/>
            <a:ext cx="781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FDC485-642B-47E6-BF9C-073E2F59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575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rPr>
              <a:t>集货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5FDC0D-088B-418B-BA3D-FE404ED1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7810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9AE599-89DF-4D84-A781-FBAFC160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4342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9E0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59E0B"/>
                </a:solidFill>
                <a:latin typeface="Arial Unicode MS"/>
                <a:ea typeface="Arial Unicode MS"/>
                <a:cs typeface="Arial Unicode MS"/>
              </a:rPr>
              <a:t>中转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B9E9F1-B0AB-4AB0-BA33-D4DAF7CF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504950"/>
            <a:ext cx="26479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1C8B33-863D-445E-8CB3-561F3F2B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52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优化目标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F324EB-D723-485F-8D9F-03518C2D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28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总成本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DFC64D-F0B4-4818-8C4A-7E8DD32A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288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采购 + 运费 + 仓储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9A4312-C71E-4F03-A7D0-3EE45301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765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交期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8022BA-B220-4EFE-A538-BEB849E8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8765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时效 + 批次 + 频率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9CA689-796E-4D67-A0CA-BF815C69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242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风险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9F6376-16D0-4FA9-A085-26F40CA5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5242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87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产能 + 中断 + 单一来源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6E2B62-632C-4A23-AC3A-0E8E0446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7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碳排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4FA90B-A4BB-45DE-A492-99DA8287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719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77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距离 + 车型 + 装载率</a:t>
            </a:r>
          </a:p>
        </p:txBody>
      </p:sp>
      <p:cxnSp>
        <p:nvCxnSpPr>
          <p:cNvPr id="103" name=""/>
          <p:cNvCxnSpPr/>
          <p:nvPr/>
        </p:nvCxnSpPr>
        <p:spPr>
          <a:xfrm xmlns:a="http://schemas.openxmlformats.org/drawingml/2006/main" flipV="0">
            <a:off x="9410700" y="4857750"/>
            <a:ext cx="2133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05521C-B461-45FB-B1E0-BAE590C8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101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5D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E85D5D"/>
                </a:solidFill>
                <a:latin typeface="Arial Unicode MS"/>
                <a:ea typeface="Arial Unicode MS"/>
                <a:cs typeface="Arial Unicode MS"/>
              </a:rPr>
              <a:t>异常发生后自动重算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F14B69-32EF-469A-BB9B-A58E7DA7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83248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C7E374-2DA0-4494-B3A4-CDFC15F2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示例建议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9BC806-C99F-43C0-97AD-7CCA7F5B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S2 → 区域仓 → 工厂A/B；S1直送工厂C；保留S3作为中断备选。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9F91B7-7E1A-410C-97D7-E5AB7074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562600"/>
            <a:ext cx="2133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示意网络，仅用于说明优化能力。</a:t>
            </a:r>
          </a:p>
        </p:txBody>
      </p:sp>
    </p:spTree>
    <p:extLst>
      <p:ext uri="{BB962C8B-B14F-4D97-AF65-F5344CB8AC3E}">
        <p14:creationId xmlns:p14="http://schemas.microsoft.com/office/powerpoint/2010/main" val="11921938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D973B3-31CE-47D4-BB38-ED4AE43E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亮点 04｜AI辅助采购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70501-C3CE-458B-906F-7B5931A6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一个对话入口，完成查数、修正、优化与报告生成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51524-4B98-4EF5-A571-01E9D81F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30F1C-3614-4685-94EB-F514C9CE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701B7-FBDE-4CC4-9E4A-7955E667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59055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172A3-AB31-4FD7-8C75-A88E3DD5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采购经理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4E863-D282-4DDA-883B-BF184368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4476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4B640-9F79-4779-9261-516EAB38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51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比较三家投标报价，按TCO重新排序，</a:t>
            </a:r>
          </a:p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并解释为什么不是最低单价中标。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59070-74D0-485A-A8F7-AA14052F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AI采购助手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48F4F-1916-462D-893D-6636CC42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53530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5D6B2-A19B-4BBB-A946-6B6DAC6B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已完成：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3064D-7184-44B4-9A0D-01A7BB43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4838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1. 读取报价与历史交付、质量数据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2. 统一币种、税率、物流与付款口径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3. 调用TCO与回归模型计算并完成诊断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4. 生成供应商排序、依据与风险提示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957E0-7280-491D-9FCF-164C3D7A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95850"/>
            <a:ext cx="53530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8C573-5817-4F44-8CF2-DA9F475A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下一步：生成《招标比价说明》并提交复核？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8B2C4-2DA4-468D-AEEB-1239D993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10150"/>
            <a:ext cx="1104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AC00E-5BAC-49EE-B0CD-CEA83FD3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768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预览报告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D5439-C32A-46EB-B821-780E5DF3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47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四类高频任务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8B4235-5AA3-41E4-A991-03E0E328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431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2CBF5-6E2E-4CA4-A2DE-3F9B7CCB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查找数据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D49A83-6C11-4236-8552-86EC08AE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907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按权限查询物料、报价、订单、合同、质量与市场数据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 flipV="0">
            <a:off x="6819900" y="2686050"/>
            <a:ext cx="4648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43FA4-E24E-400F-98F8-1C8D72C9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575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76CA50-0437-434C-B3BC-33A28A8C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修正模型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01467C-5E1E-4C95-8EBF-2037A6EC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051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提交错误样例、调整规则或权重，发起重算/重训申请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 flipV="0">
            <a:off x="6819900" y="3600450"/>
            <a:ext cx="4648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61577C-E4BC-4BC4-987F-A652F9A1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71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4EF2DE-23F2-4817-9AF6-3A5FBC62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95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任务优化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A6FB9E-4681-453F-90CE-02A4DC16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195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分析目标、依赖与瓶颈，提出拆分、排序与替代方案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 flipV="0">
            <a:off x="6819900" y="4514850"/>
            <a:ext cx="4648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837095-3821-4958-83A3-86A323F9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863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78EE32-61C0-468A-A997-180BCDC4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10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报告生成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DC9AD3-A181-4949-B153-90F9F6A9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339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生成比价说明、市场报告、谈判提纲与管理汇报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BFD78B-35A6-4610-89C3-45B21E55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562600"/>
            <a:ext cx="46482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18F73E-6376-43F0-9302-9E6D8F90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65785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有影响的操作：先预览 → 用户确认 → 执行 → 审计留痕</a:t>
            </a:r>
          </a:p>
        </p:txBody>
      </p:sp>
    </p:spTree>
    <p:extLst>
      <p:ext uri="{BB962C8B-B14F-4D97-AF65-F5344CB8AC3E}">
        <p14:creationId xmlns:p14="http://schemas.microsoft.com/office/powerpoint/2010/main" val="12887444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C308DE-EBBB-4E11-AE0D-754455C3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实施建议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65267-B1B0-4342-8FA7-4B1AB2F8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先打通数据与比价，再升级模型与跨工厂优化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 flipV="0">
            <a:off x="400050" y="6191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9DDE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DBD83-D692-47AE-8F10-6CB12677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来源：制造业采购AI智能体系统需求规格说明书 V1.1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A40AE-4A57-4FF8-AA4D-222E3C27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 flipV="0">
            <a:off x="990600" y="481965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11827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FB003-EF11-4E8A-A725-B0A7AF5B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F7A01-1B44-430F-9204-51DAE8CC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529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F7E29-3578-4765-8B6C-FEB8E947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52975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34F2A-C079-4E2D-9AA3-DB12E19B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35623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ADE0B-5614-4037-9B5B-AABB5C1B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一期｜基础可用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D3A8A-9951-4F20-93B6-7BA4326B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建立可信数据底座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346C2E-3F30-49E7-B507-85A2D9D4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D11C2C-1936-4C6F-8193-500901A5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AI助手与知识库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3516C-8A74-4DAB-8814-9806BB31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58775-352C-4B4D-9B33-7ABD9D31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报价识别与自动比价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5AA34-C4A7-4444-B291-7D75FFAD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4DAF9-253C-4EB6-975B-FEF7B29C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历史价格 / 供应商绩效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A0C06-6E17-445F-8FE4-5CB4D7D8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D5C631-5787-474B-9EDB-F525D296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合同审查与报告导出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59DF25-8469-4DBF-94A2-15D852A7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35623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6DBCCE-484B-4E15-9321-4DF57514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二期｜决策增强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C6B195-0178-45EE-9309-07F4B9E2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14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让采购结果可计算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845961-4D73-4618-B88A-949DF363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5E4B2C-49E5-459C-8FD3-88C0E107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289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需求预测与情景模拟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0A381C-7180-45C7-8B3E-3732BBB2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670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187858-9A68-4716-8003-96D721E1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TCO综合成本模型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DD13CA-FBEF-4D1F-8D3A-A2015525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861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3333B1-C749-4447-B679-E26B976B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67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多元回归招标评价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72FF40-C570-42BF-AA57-828B6DBB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50239E-1EBE-45AD-A40A-19CCF0EE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862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风险预警与智能寻源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0D6481-DDD0-4721-9A5A-D553BF2F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66850"/>
            <a:ext cx="35623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6E5A0F-9E3F-4B7F-A5E1-7CD6D7D0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三期｜优化协同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7CCA56-BAB2-43D9-BF2D-32569A33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实现跨工厂全局最优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E6E716-3D8B-4BEF-909E-8672C25A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4E0031-1483-4A09-A31D-83D951FC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289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产业链知识图谱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E84934-3287-4E7D-8619-C8751AA4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670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388800-E57F-4C07-A80D-4888C29A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多工厂供货分配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32BFFD-6ECD-4D70-B0CE-F856EFA8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861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F47622-4B7D-46E8-BFE7-C71A1B7D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671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交货路径与中断重算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239FD5-5CCA-47C0-8837-B70F6799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052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255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CC5422-2AC7-4A2E-A507-1CE0FD72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862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11827"/>
                </a:solidFill>
                <a:latin typeface="Arial Unicode MS"/>
                <a:ea typeface="Arial Unicode MS"/>
                <a:cs typeface="Arial Unicode MS"/>
              </a:rPr>
              <a:t>动态采购策略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F980D0-A582-41A8-8AD8-23644920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7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阶段1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E36F51-53BC-49C1-AC40-5D54A089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67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阶段2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D09FF5-5756-4C27-B2BC-A33F7985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673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B7A"/>
                </a:solidFill>
                <a:latin typeface="Arial Unicode MS"/>
                <a:ea typeface="Arial Unicode MS"/>
                <a:cs typeface="Arial Unicode MS"/>
              </a:rPr>
              <a:t>阶段3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903FB7-9163-4C9C-B96C-52923D62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11391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847986-E919-4540-83ED-A886C7AA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建议下一步：确认一期范围、客户样例数据、TCO口径及模型策略，进入开发设计。</a:t>
            </a:r>
          </a:p>
        </p:txBody>
      </p:sp>
    </p:spTree>
    <p:extLst>
      <p:ext uri="{BB962C8B-B14F-4D97-AF65-F5344CB8AC3E}">
        <p14:creationId xmlns:p14="http://schemas.microsoft.com/office/powerpoint/2010/main" val="1207795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2026-07-17T05:07:15.0910000Z</dcterms:created>
  <dcterms:modified xsi:type="dcterms:W3CDTF">2026-07-17T05:07:15.0910000Z</dcterms:modified>
</coreProperties>
</file>