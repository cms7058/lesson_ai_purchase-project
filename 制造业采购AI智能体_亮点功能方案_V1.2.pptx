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40420272c646db" /><Relationship Type="http://schemas.openxmlformats.org/officeDocument/2006/relationships/extended-properties" Target="/docProps/app.xml" Id="R78cf489cfe554627" /><Relationship Type="http://schemas.openxmlformats.org/officeDocument/2006/relationships/officeDocument" Target="/ppt/presentation.xml" Id="Rccc8d62ed2d848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350ff862694f9a"/>
  </p:sldMasterIdLst>
  <p:notesMasterIdLst>
    <p:notesMasterId xmlns:r="http://schemas.openxmlformats.org/officeDocument/2006/relationships" r:id="R35e3323a4b964885"/>
  </p:notesMasterIdLst>
  <p:sldIdLst>
    <p:sldId xmlns:r="http://schemas.openxmlformats.org/officeDocument/2006/relationships" id="256" r:id="R8db581a08b8d4a46"/>
    <p:sldId xmlns:r="http://schemas.openxmlformats.org/officeDocument/2006/relationships" id="257" r:id="Rb0077978b94f4b5d"/>
    <p:sldId xmlns:r="http://schemas.openxmlformats.org/officeDocument/2006/relationships" id="258" r:id="Rc492426813ae4db9"/>
    <p:sldId xmlns:r="http://schemas.openxmlformats.org/officeDocument/2006/relationships" id="259" r:id="Ra82431c676b742dd"/>
    <p:sldId xmlns:r="http://schemas.openxmlformats.org/officeDocument/2006/relationships" id="260" r:id="Rc9c82170041e4504"/>
    <p:sldId xmlns:r="http://schemas.openxmlformats.org/officeDocument/2006/relationships" id="261" r:id="R074b6f88229c4ef2"/>
    <p:sldId xmlns:r="http://schemas.openxmlformats.org/officeDocument/2006/relationships" id="262" r:id="R8825d0694c42498a"/>
    <p:sldId xmlns:r="http://schemas.openxmlformats.org/officeDocument/2006/relationships" id="263" r:id="Rf988a575e45848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2ea5b2d5544286" /><Relationship Type="http://schemas.openxmlformats.org/officeDocument/2006/relationships/slideMaster" Target="/ppt/slideMasters/slideMaster1.xml" Id="Rf0350ff862694f9a" /><Relationship Type="http://schemas.openxmlformats.org/officeDocument/2006/relationships/notesMaster" Target="/ppt/notesMasters/notesMaster1.xml" Id="R35e3323a4b964885" /><Relationship Type="http://schemas.openxmlformats.org/officeDocument/2006/relationships/presProps" Target="/ppt/presProps.xml" Id="Rbc70e19e5d594240" /><Relationship Type="http://schemas.openxmlformats.org/officeDocument/2006/relationships/tableStyles" Target="/ppt/tableStyles.xml" Id="R40b85f27b6f3457b" /><Relationship Type="http://schemas.openxmlformats.org/officeDocument/2006/relationships/slide" Target="/ppt/slides/slide1.xml" Id="R8db581a08b8d4a46" /><Relationship Type="http://schemas.openxmlformats.org/officeDocument/2006/relationships/slide" Target="/ppt/slides/slide2.xml" Id="Rb0077978b94f4b5d" /><Relationship Type="http://schemas.openxmlformats.org/officeDocument/2006/relationships/slide" Target="/ppt/slides/slide3.xml" Id="Rc492426813ae4db9" /><Relationship Type="http://schemas.openxmlformats.org/officeDocument/2006/relationships/slide" Target="/ppt/slides/slide4.xml" Id="Ra82431c676b742dd" /><Relationship Type="http://schemas.openxmlformats.org/officeDocument/2006/relationships/slide" Target="/ppt/slides/slide5.xml" Id="Rc9c82170041e4504" /><Relationship Type="http://schemas.openxmlformats.org/officeDocument/2006/relationships/slide" Target="/ppt/slides/slide6.xml" Id="R074b6f88229c4ef2" /><Relationship Type="http://schemas.openxmlformats.org/officeDocument/2006/relationships/slide" Target="/ppt/slides/slide7.xml" Id="R8825d0694c42498a" /><Relationship Type="http://schemas.openxmlformats.org/officeDocument/2006/relationships/slide" Target="/ppt/slides/slide8.xml" Id="Rf988a575e458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b59d324a4e49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937c6d0c54820" /><Relationship Type="http://schemas.openxmlformats.org/officeDocument/2006/relationships/notesMaster" Target="/ppt/notesMasters/notesMaster1.xml" Id="Ra7cdbc9d20884d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fd04cb78754a83" /><Relationship Type="http://schemas.openxmlformats.org/officeDocument/2006/relationships/notesMaster" Target="/ppt/notesMasters/notesMaster1.xml" Id="R08b8bc34d3544f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f1b321c5cb477c" /><Relationship Type="http://schemas.openxmlformats.org/officeDocument/2006/relationships/notesMaster" Target="/ppt/notesMasters/notesMaster1.xml" Id="R6acda3d78dcd4b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e408edc3014edb" /><Relationship Type="http://schemas.openxmlformats.org/officeDocument/2006/relationships/notesMaster" Target="/ppt/notesMasters/notesMaster1.xml" Id="Rcb2e6c30d8f1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4a06e560594f50" /><Relationship Type="http://schemas.openxmlformats.org/officeDocument/2006/relationships/notesMaster" Target="/ppt/notesMasters/notesMaster1.xml" Id="Raf008959d0cf4f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7e6f8024b4784" /><Relationship Type="http://schemas.openxmlformats.org/officeDocument/2006/relationships/notesMaster" Target="/ppt/notesMasters/notesMaster1.xml" Id="Rf093bf13b8b947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b35a8192df4d67" /><Relationship Type="http://schemas.openxmlformats.org/officeDocument/2006/relationships/notesMaster" Target="/ppt/notesMasters/notesMaster1.xml" Id="R32970b1539f445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a2a72ff77b4596" /><Relationship Type="http://schemas.openxmlformats.org/officeDocument/2006/relationships/notesMaster" Target="/ppt/notesMasters/notesMaster1.xml" Id="R84871ae76be94b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6b06de6af49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cf4f61d322403d" /><Relationship Type="http://schemas.openxmlformats.org/officeDocument/2006/relationships/slideLayout" Target="/ppt/slideLayouts/slideLayout1.xml" Id="Rd22b01a47b0842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2b01a47b0842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1a559fe8f49b6" /><Relationship Type="http://schemas.openxmlformats.org/officeDocument/2006/relationships/notesSlide" Target="/ppt/notesSlides/notesSlide1.xml" Id="R892c31d38f0b43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8531067324b36" /><Relationship Type="http://schemas.openxmlformats.org/officeDocument/2006/relationships/notesSlide" Target="/ppt/notesSlides/notesSlide2.xml" Id="R6671d8f617794e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ffed7343d459d" /><Relationship Type="http://schemas.openxmlformats.org/officeDocument/2006/relationships/notesSlide" Target="/ppt/notesSlides/notesSlide3.xml" Id="R8ece7587057b4c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56c5fa06c4387" /><Relationship Type="http://schemas.openxmlformats.org/officeDocument/2006/relationships/chart" Target="/ppt/slides/charts/chart1.xml" Id="R68bace172a164dab" /><Relationship Type="http://schemas.openxmlformats.org/officeDocument/2006/relationships/notesSlide" Target="/ppt/notesSlides/notesSlide4.xml" Id="R5badba2c74274e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5f9455fd74d98" /><Relationship Type="http://schemas.openxmlformats.org/officeDocument/2006/relationships/chart" Target="/ppt/slides/charts/chart2.xml" Id="R52ceff91e06446c9" /><Relationship Type="http://schemas.openxmlformats.org/officeDocument/2006/relationships/notesSlide" Target="/ppt/notesSlides/notesSlide5.xml" Id="R498469c3fed94c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3a858c5f2432a" /><Relationship Type="http://schemas.openxmlformats.org/officeDocument/2006/relationships/notesSlide" Target="/ppt/notesSlides/notesSlide6.xml" Id="R1986d8b45e7a45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3c02259734de0" /><Relationship Type="http://schemas.openxmlformats.org/officeDocument/2006/relationships/notesSlide" Target="/ppt/notesSlides/notesSlide7.xml" Id="R4a4ef713e60049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6aa78043d4d35" /><Relationship Type="http://schemas.openxmlformats.org/officeDocument/2006/relationships/notesSlide" Target="/ppt/notesSlides/notesSlide8.xml" Id="R24c2cdc40c7e4ac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报价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供应商A</c:v>
              </c:pt>
              <c:pt idx="1">
                <c:v>供应商B</c:v>
              </c:pt>
              <c:pt idx="2">
                <c:v>供应商C</c:v>
              </c:pt>
            </c:strLit>
          </c:cat>
          <c:val>
            <c:numLit>
              <c:formatCode>General</c:formatCode>
              <c:ptCount val="3"/>
              <c:pt idx="0">
                <c:v>96</c:v>
              </c:pt>
              <c:pt idx="1">
                <c:v>99</c:v>
              </c:pt>
              <c:pt idx="2">
                <c:v>94</c:v>
              </c:pt>
            </c:numLit>
          </c:val>
        </c:ser>
        <c:ser>
          <c:idx val="1"/>
          <c:order val="1"/>
          <c:tx>
            <c:v>到厂价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供应商A</c:v>
              </c:pt>
              <c:pt idx="1">
                <c:v>供应商B</c:v>
              </c:pt>
              <c:pt idx="2">
                <c:v>供应商C</c:v>
              </c:pt>
            </c:strLit>
          </c:cat>
          <c:val>
            <c:numLit>
              <c:formatCode>General</c:formatCode>
              <c:ptCount val="3"/>
              <c:pt idx="0">
                <c:v>101</c:v>
              </c:pt>
              <c:pt idx="1">
                <c:v>100</c:v>
              </c:pt>
              <c:pt idx="2">
                <c:v>105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A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8"/>
          <c:min val="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F6B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实际采购成本</c:v>
          </c:tx>
          <c:spPr>
            <a:ln xmlns:a="http://schemas.openxmlformats.org/drawingml/2006/main" w="28575">
              <a:solidFill>
                <a:srgbClr val="111827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8"/>
              <c:pt idx="0">
                <c:v>样本1</c:v>
              </c:pt>
              <c:pt idx="1">
                <c:v>样本2</c:v>
              </c:pt>
              <c:pt idx="2">
                <c:v>样本3</c:v>
              </c:pt>
              <c:pt idx="3">
                <c:v>样本4</c:v>
              </c:pt>
              <c:pt idx="4">
                <c:v>样本5</c:v>
              </c:pt>
              <c:pt idx="5">
                <c:v>样本6</c:v>
              </c:pt>
              <c:pt idx="6">
                <c:v>样本7</c:v>
              </c:pt>
              <c:pt idx="7">
                <c:v>样本8</c:v>
              </c:pt>
            </c:strLit>
          </c:cat>
          <c:val>
            <c:numLit>
              <c:formatCode>General</c:formatCode>
              <c:ptCount val="8"/>
              <c:pt idx="0">
                <c:v>96</c:v>
              </c:pt>
              <c:pt idx="1">
                <c:v>101</c:v>
              </c:pt>
              <c:pt idx="2">
                <c:v>99</c:v>
              </c:pt>
              <c:pt idx="3">
                <c:v>105</c:v>
              </c:pt>
              <c:pt idx="4">
                <c:v>102</c:v>
              </c:pt>
              <c:pt idx="5">
                <c:v>108</c:v>
              </c:pt>
              <c:pt idx="6">
                <c:v>104</c:v>
              </c:pt>
              <c:pt idx="7">
                <c:v>111</c:v>
              </c:pt>
            </c:numLit>
          </c:val>
        </c:ser>
        <c:ser>
          <c:idx val="1"/>
          <c:order val="1"/>
          <c:tx>
            <c:v>模型预测成本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8"/>
              <c:pt idx="0">
                <c:v>样本1</c:v>
              </c:pt>
              <c:pt idx="1">
                <c:v>样本2</c:v>
              </c:pt>
              <c:pt idx="2">
                <c:v>样本3</c:v>
              </c:pt>
              <c:pt idx="3">
                <c:v>样本4</c:v>
              </c:pt>
              <c:pt idx="4">
                <c:v>样本5</c:v>
              </c:pt>
              <c:pt idx="5">
                <c:v>样本6</c:v>
              </c:pt>
              <c:pt idx="6">
                <c:v>样本7</c:v>
              </c:pt>
              <c:pt idx="7">
                <c:v>样本8</c:v>
              </c:pt>
            </c:strLit>
          </c:cat>
          <c:val>
            <c:numLit>
              <c:formatCode>General</c:formatCode>
              <c:ptCount val="8"/>
              <c:pt idx="0">
                <c:v>97</c:v>
              </c:pt>
              <c:pt idx="1">
                <c:v>100</c:v>
              </c:pt>
              <c:pt idx="2">
                <c:v>100</c:v>
              </c:pt>
              <c:pt idx="3">
                <c:v>104</c:v>
              </c:pt>
              <c:pt idx="4">
                <c:v>103</c:v>
              </c:pt>
              <c:pt idx="5">
                <c:v>107</c:v>
              </c:pt>
              <c:pt idx="6">
                <c:v>105</c:v>
              </c:pt>
              <c:pt idx="7">
                <c:v>110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B7A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14"/>
          <c:min val="9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F6B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D6B64-DE9A-4752-8248-2081B171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34FB8-3D6D-4259-A9C4-46DFC63A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PEBS COPILOT PURCHASE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D8E1C-7F95-4BBD-B383-DD84229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AI驱动采购决策升级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404D0-2C18-4A5D-84A4-723E0428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让报价、成本、供应商与物流方案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从“人工整理”走向“可计算、可解释、可追溯”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 flipV="0">
            <a:off x="476250" y="445770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197EF-707D-4DFE-8871-50BFCCE7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8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制造业采购AI智能体｜亮点功能方案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1C6FB-97AF-4699-A744-3F030BCD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基于系统需求规格说明书 V1.2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42BA1-1045-425F-8F48-427FDB1B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305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541A0-2C9E-4D40-9EF0-3C502A1C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识别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6BDE8-5B6A-4E52-A9D7-F9F0578C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94250-0784-459C-A844-C0CCA11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优化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 flipV="0">
            <a:off x="9258300" y="23431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 flipV="0">
            <a:off x="9258300" y="3143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693A9-5A09-445F-8A8C-7D0253B5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267365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B8366C-0FD5-470A-B47E-CE3B7926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主要模块与功能介绍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3C5D4-F5BF-41AF-8C37-BDAD4C9C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十个主要模块，共同支撑采购识别、决策与协同</a:t>
            </a:r>
          </a:p>
        </p:txBody>
      </p:sp>
      <p:cxnSp>
        <p:nvCxnSpPr>
          <p:cNvPr id="131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1FDE3-586C-4589-BEB2-71D48A78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7DDA3-527D-4B2A-B78F-202CA549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0BB5D-1082-43D5-A4F1-DFF927E6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5A311-4448-4E18-A1DA-9DB1A6A3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2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数据认知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33969-8586-48F1-A0A1-37831633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954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把文件、业务数据与外部信息转化为可信数据</a:t>
            </a:r>
          </a:p>
        </p:txBody>
      </p:sp>
      <p:cxnSp>
        <p:nvCxnSpPr>
          <p:cNvPr id="137" name=""/>
          <p:cNvCxnSpPr/>
          <p:nvPr/>
        </p:nvCxnSpPr>
        <p:spPr>
          <a:xfrm xmlns:a="http://schemas.openxmlformats.org/drawingml/2006/main" flipV="0">
            <a:off x="4362450" y="16764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383FB-3C1D-4F3A-96CA-4D40E8DF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3355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AI采购助手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90631-991E-4E31-B7AF-A11BC17D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对话查数、任务编排、报告生成</a:t>
            </a:r>
          </a:p>
        </p:txBody>
      </p:sp>
      <p:cxnSp>
        <p:nvCxnSpPr>
          <p:cNvPr id="140" name=""/>
          <p:cNvCxnSpPr/>
          <p:nvPr/>
        </p:nvCxnSpPr>
        <p:spPr>
          <a:xfrm xmlns:a="http://schemas.openxmlformats.org/drawingml/2006/main" flipV="0">
            <a:off x="6899275" y="17145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D391A-EF25-46F2-B40C-F3EB9800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73355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数据与知识库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A6A53-9C35-4965-9920-4B585310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209550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文件/API双通道、字段映射、增量同步</a:t>
            </a:r>
          </a:p>
        </p:txBody>
      </p:sp>
      <p:cxnSp>
        <p:nvCxnSpPr>
          <p:cNvPr id="143" name=""/>
          <p:cNvCxnSpPr/>
          <p:nvPr/>
        </p:nvCxnSpPr>
        <p:spPr>
          <a:xfrm xmlns:a="http://schemas.openxmlformats.org/drawingml/2006/main" flipV="0">
            <a:off x="9255125" y="17145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92817-0976-4882-9CF7-5E5756D8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173355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市场与产业链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03316-0AE3-4278-BC4F-F5001771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209550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供需、价格、政策、产业链与风险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C9F1B-8B00-4A2D-A523-EE00F9A1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1391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30F32-D976-4FFF-AE7E-33B12BA1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28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决策计算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E9E7D-645A-4182-A8DA-0568A4C8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67050"/>
            <a:ext cx="236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用统计模型和优化算法形成可解释的采购建议</a:t>
            </a:r>
          </a:p>
        </p:txBody>
      </p:sp>
      <p:cxnSp>
        <p:nvCxnSpPr>
          <p:cNvPr id="149" name=""/>
          <p:cNvCxnSpPr/>
          <p:nvPr/>
        </p:nvCxnSpPr>
        <p:spPr>
          <a:xfrm xmlns:a="http://schemas.openxmlformats.org/drawingml/2006/main" flipV="0">
            <a:off x="4362450" y="3048000"/>
            <a:ext cx="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ED0DB-855E-4B34-A333-3944E3D3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报价识别与比价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691A9-B146-402F-A2E8-FE1CDD2E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67100"/>
            <a:ext cx="15954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OCR抽取、口径换算、异常与澄清</a:t>
            </a:r>
          </a:p>
        </p:txBody>
      </p:sp>
      <p:cxnSp>
        <p:nvCxnSpPr>
          <p:cNvPr id="152" name=""/>
          <p:cNvCxnSpPr/>
          <p:nvPr/>
        </p:nvCxnSpPr>
        <p:spPr>
          <a:xfrm xmlns:a="http://schemas.openxmlformats.org/drawingml/2006/main" flipV="0">
            <a:off x="6310313" y="30861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53A7A-C43B-4431-AE08-512C927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105150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TCO与多元回归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1A9A5-B468-458E-8287-ECA03D5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467100"/>
            <a:ext cx="15954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综合成本、招标预测、模型诊断</a:t>
            </a:r>
          </a:p>
        </p:txBody>
      </p:sp>
      <p:cxnSp>
        <p:nvCxnSpPr>
          <p:cNvPr id="155" name=""/>
          <p:cNvCxnSpPr/>
          <p:nvPr/>
        </p:nvCxnSpPr>
        <p:spPr>
          <a:xfrm xmlns:a="http://schemas.openxmlformats.org/drawingml/2006/main" flipV="0">
            <a:off x="8077200" y="30861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7EB9D-5873-4006-9F03-D7140F74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05150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需求预测与计划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58A7E-F7EA-47BE-A340-F324748F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67100"/>
            <a:ext cx="15954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预测误差、采购建议、情景模拟</a:t>
            </a:r>
          </a:p>
        </p:txBody>
      </p:sp>
      <p:cxnSp>
        <p:nvCxnSpPr>
          <p:cNvPr id="158" name=""/>
          <p:cNvCxnSpPr/>
          <p:nvPr/>
        </p:nvCxnSpPr>
        <p:spPr>
          <a:xfrm xmlns:a="http://schemas.openxmlformats.org/drawingml/2006/main" flipV="0">
            <a:off x="9844088" y="30861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74935B-5B3C-4F3F-BDD6-48FBA91E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105150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多工厂路径优化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218153-B7E8-47BA-A935-3B8DD8AB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467100"/>
            <a:ext cx="15954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供货分配、路线、批次与中断重算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BF835-FA0B-49C9-A253-6E4F89FE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A07749-2C47-46A6-80D7-31DE86CA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2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管控协同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B9FD05-B397-4171-9830-C82AA568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覆盖供应商、合同与审计，确保结果可复核可追溯</a:t>
            </a:r>
          </a:p>
        </p:txBody>
      </p:sp>
      <p:cxnSp>
        <p:nvCxnSpPr>
          <p:cNvPr id="164" name=""/>
          <p:cNvCxnSpPr/>
          <p:nvPr/>
        </p:nvCxnSpPr>
        <p:spPr>
          <a:xfrm xmlns:a="http://schemas.openxmlformats.org/drawingml/2006/main" flipV="0">
            <a:off x="4362450" y="47815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FA3404-BBB2-441F-85D2-4BD1796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寻源与供应商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BC34AC-D620-4542-91D7-D8483134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0065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候选发现、准入、绩效、风险与价值</a:t>
            </a:r>
          </a:p>
        </p:txBody>
      </p:sp>
      <p:cxnSp>
        <p:nvCxnSpPr>
          <p:cNvPr id="167" name=""/>
          <p:cNvCxnSpPr/>
          <p:nvPr/>
        </p:nvCxnSpPr>
        <p:spPr>
          <a:xfrm xmlns:a="http://schemas.openxmlformats.org/drawingml/2006/main" flipV="0">
            <a:off x="6899275" y="48196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23710F-759C-4E37-8F05-8D7BD03C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83870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合同智能管理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E61B3C-A07F-41FB-9801-0EF26481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20065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模板创建、条款审查、履约节点</a:t>
            </a:r>
          </a:p>
        </p:txBody>
      </p:sp>
      <p:cxnSp>
        <p:nvCxnSpPr>
          <p:cNvPr id="170" name=""/>
          <p:cNvCxnSpPr/>
          <p:nvPr/>
        </p:nvCxnSpPr>
        <p:spPr>
          <a:xfrm xmlns:a="http://schemas.openxmlformats.org/drawingml/2006/main" flipV="0">
            <a:off x="9255125" y="48196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C8EA69-D0BE-482F-A42B-67D3F178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483870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合规审计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C72A63-6B9B-455B-81BB-D52FC634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520065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权限、审批、模型版本与全链路留痕</a:t>
            </a:r>
          </a:p>
        </p:txBody>
      </p:sp>
    </p:spTree>
    <p:extLst>
      <p:ext uri="{BB962C8B-B14F-4D97-AF65-F5344CB8AC3E}">
        <p14:creationId xmlns:p14="http://schemas.microsoft.com/office/powerpoint/2010/main" val="1668084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3D0D49-E3E0-4575-ACC3-5E359255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总体能力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DE8AE-90A5-477D-B5B6-C83FB9E5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AI不是单点工具，而是贯穿采购闭环的决策助手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FE116-11C0-47CB-AD34-FB5D7FB5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BBDD1-90D3-4066-AEE9-3A4E7E10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 flipV="0">
            <a:off x="186690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 flipV="0">
            <a:off x="382905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 flipV="0">
            <a:off x="579120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77" name=""/>
          <p:cNvCxnSpPr/>
          <p:nvPr/>
        </p:nvCxnSpPr>
        <p:spPr>
          <a:xfrm xmlns:a="http://schemas.openxmlformats.org/drawingml/2006/main" flipV="0">
            <a:off x="775335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78" name=""/>
          <p:cNvCxnSpPr/>
          <p:nvPr/>
        </p:nvCxnSpPr>
        <p:spPr>
          <a:xfrm xmlns:a="http://schemas.openxmlformats.org/drawingml/2006/main" flipV="0">
            <a:off x="971550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699A2-1398-45DC-A772-E7E5789E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67578-0E41-4450-B24B-FE299043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51CEB-14A9-4AC1-8EF7-D9EE6BF0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多源输入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683DD-735C-426B-B18F-1DD5ABBA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0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文件上传 / 系统API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ERP / SRM / QMS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B5131-2DDE-4716-8818-C38E2F8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3925A-3C52-45BB-9800-0D69778D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0DDBD-AF91-4CEF-B2B0-11128B57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识别标准化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74059-A30C-402B-A890-9A192A8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OCR / API映射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主数据与口径统一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E586A-A79E-4D7D-83E7-F36F0A83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14393-953C-45EC-8AF0-9EDE1F6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CD487-E27F-4E00-96A4-EBD6EA94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数据与知识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D0A19-39D7-4A26-92FD-EDEED519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历史采购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供应商360 / 制度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19B61-9A58-4880-A1CB-C589B01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1119E-E876-4507-95DF-F2D21670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4EA51-F659-489C-8EE2-C28E5345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模型与求解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E1D1A-9F2F-4700-B210-11D30968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回归 / 预测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TCO / 路径优化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C8FEFE-5443-43C1-8213-F0EADB98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8BCC9-E282-4EC9-9605-43750494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71E61-E71B-4DA1-AF27-8B90DA23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决策输出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8A5DB-55E8-46E5-BC04-2B52D43A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自动比价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排序 / 风险 / 建议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571598-3112-4663-AFB4-9426D7C5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A45AF4-D4A5-4244-86B5-FE95300F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A9BF4-4DA7-47B1-B53B-184C2A8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人工确认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514DE8-E2DC-45AE-91F1-83E58666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审批 / 回写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版本 / 审计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45B78B-FA21-4ACC-A6AD-12F30E02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六类核心工作台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34EFEE-9FBB-4077-A4DA-9AB9FBB6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6D9D88-397A-4D1E-B51D-04A8C68E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市场洞察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E8FC65-F934-46E7-9D64-22E72B6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AA52A4-2B58-4FC7-A103-84A55725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需求计划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FE0FF8-05DB-4118-93F6-6A339D14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C10845-C1A1-42DA-8DEA-9BD6878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寻源比价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7CAA21-80E8-43AD-B8B1-1485783D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81C34D-CED4-43DB-9873-FD8DA62E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成本分析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EA06C0-805F-4BC4-B6E1-0D24A5FC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B2E10E-9E5E-48FD-8084-A31C4538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供应商管理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DDDF8C-F4F9-420D-B5A1-98D2E548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D9D206-77B1-4CDE-96FE-BC1C7D96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合同履约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0FCBAC-DC12-4FD4-A670-73282797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关键原则：结构化计算由统计模型和优化算法完成；AI负责理解任务、调用工具并解释结果。</a:t>
            </a:r>
          </a:p>
        </p:txBody>
      </p:sp>
    </p:spTree>
    <p:extLst>
      <p:ext uri="{BB962C8B-B14F-4D97-AF65-F5344CB8AC3E}">
        <p14:creationId xmlns:p14="http://schemas.microsoft.com/office/powerpoint/2010/main" val="338817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9A69ECE-C049-486E-A99F-EA9DD3D1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01｜报价单识别与自动比价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9C404-F103-48A4-A4B8-9650CAA4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报价单识别后自动统一口径，比价从“抄表”变成“审差异”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5DB64-E635-48F3-B4B0-28AF2CAB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8FB7E-ABBB-4977-94AC-B85EF604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5C22B-A941-4F74-A2DC-922EDDA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上传即处理</a:t>
            </a:r>
          </a:p>
        </p:txBody>
      </p:sp>
      <p:cxnSp>
        <p:nvCxnSpPr>
          <p:cNvPr id="104" name=""/>
          <p:cNvCxnSpPr/>
          <p:nvPr/>
        </p:nvCxnSpPr>
        <p:spPr>
          <a:xfrm xmlns:a="http://schemas.openxmlformats.org/drawingml/2006/main" flipV="0">
            <a:off x="914400" y="25431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105" name=""/>
          <p:cNvCxnSpPr/>
          <p:nvPr/>
        </p:nvCxnSpPr>
        <p:spPr>
          <a:xfrm xmlns:a="http://schemas.openxmlformats.org/drawingml/2006/main" flipV="0">
            <a:off x="914400" y="34194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106" name=""/>
          <p:cNvCxnSpPr/>
          <p:nvPr/>
        </p:nvCxnSpPr>
        <p:spPr>
          <a:xfrm xmlns:a="http://schemas.openxmlformats.org/drawingml/2006/main" flipV="0">
            <a:off x="914400" y="42957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E40F-38C3-4C08-8DE2-B114ED7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2D708-67D4-4405-A734-29229E28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2A9BC-1F23-4DD8-98FD-27C1292D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识别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09BA1-C693-4CEC-98DB-EC95394E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193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PDF / Excel / 图片 / 扫描件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8C06A-AFFC-4AB8-A35E-18BEEFF5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2BA44-4C23-4804-AA6F-E23BAE47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19E34-FC20-4AC4-96A3-00087FFE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抽取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2EB21-2D00-4B93-8333-F6C205D1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956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物料、规格、价格、交期、条款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5E521-804D-4BF9-8F06-7D33F70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D3F46-2A1A-40A6-BAE0-490525B5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FAE9D-9843-447D-B9A9-52C15A90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标准化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69C67-3DF4-4D69-BAFF-A47A115D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719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币种、税率、单位、MOQ、运费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CB918-180D-47FB-A7F7-2479CF75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7134E-0ED0-46B1-917E-271DDDBD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B9EC2-738F-4C8E-809D-07F5E1B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73C0B-2222-4B83-9194-32D46A5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482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缺项、异常价、规格差异、低置信度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30F6F-23A7-48E6-85BA-106EED4F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09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自动比价结果（示例）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52073-05D4-4732-AB29-75F5E729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4BA17-5A67-4756-B41B-D101B8BE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00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供应商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22B02-D494-4230-BC42-B39D24DB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08B177-35EE-4657-A2B4-F200CB7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报价/件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359C5A-1C2F-4547-8A05-36233C48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669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A8B0BA-0940-4DB3-9B3F-0BA7AC12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到厂价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CF4C31-E2EE-43EA-AB4C-15DCDC11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B7DFC-AED4-41DA-9799-C311D907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交期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26D711-75FD-407F-9981-603BBF65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669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2EC6E0-B508-4C0A-B64A-101C586A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质量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B519F-2307-4BE1-B700-BA9F01A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8669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1124D-6D38-407F-A03F-FD188E88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综合结论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93704C-A3A8-49B4-A3E7-CADCC2D1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1935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6531C3-CF7F-4142-968C-B9BBD65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527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69BEF0-6A72-4930-8D53-C5C46073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193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869223-BFDB-4FF7-B8D2-B980350D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52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¥ 96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E0009B-93F4-4842-BBFA-CBDAA6CC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E988AA-4817-43FB-82CB-DEF64E6F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¥ 101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DB8502-225F-44D3-B1A3-5CA5FA63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123B0D-4D4B-4AAD-9B53-7DBCE154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18天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9D7094-C512-4654-AD6D-B0F8EFB7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706E8F-B2E4-45CA-A25C-9CB7210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98.5%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EA1E4A-9106-4A33-A0CF-44F90317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193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84D945-3009-4647-BE56-33640F1F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52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最低报价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8F748E-4EF0-4737-BE7E-B85449E8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CD899E-CC6D-4777-A02F-7AB9D73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05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072EB8-6DD3-4E19-A06C-D2B56C6A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718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424C5F-83B5-4FB7-81AB-19F9B99C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05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¥ 99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B3E35E-B082-4489-8C45-0C76F1E2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74B105-92D1-4D15-B08A-B7BD67B1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BD97C1-9287-4604-9390-69773831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78F00D-E34A-4558-8B00-F7A6287C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14天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7831E8-366A-4E55-B84A-92AC8650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D8C915-005E-46B7-A63B-A45DE9C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99.2%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9369E0-E848-43B3-BF61-CE2E6648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718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786CF7-BAAC-4685-97CA-6C3F6334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05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最低TCO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CD8AAC-BE03-45DE-ABDE-0EC64CCF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2425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DC6C05-445E-411B-84AA-CEF4DC5E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57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C4BFA6-85C5-4BCF-A5C7-DC2A53A6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242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659476-8FDA-4DF2-A6BB-3794711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57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¥ 94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F7B44C-A136-4B5A-9950-DA97E804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242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185B42-03BB-4A34-A84C-89663074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¥ 105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D02ED7-0AB8-4D61-A76E-44A4A714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DEF7B3-637A-4948-9A9D-DE9D591F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26天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57852C-3AE5-4234-9E67-D44C0787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5DF9E53-38ED-4BB9-AE92-B5EDB30F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57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97.8%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AD7F4E-2D8D-40C7-BB5D-FF9A8331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242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E366EF-1678-468F-8E39-48A47450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57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rPr>
              <a:t>需澄清</a:t>
            </a:r>
          </a:p>
        </p:txBody>
      </p:sp>
      <p:graphicFrame>
        <p:nvGraphicFramePr>
          <p:cNvPr id="172" name="Chart"/>
          <p:cNvGraphicFramePr/>
          <p:nvPr/>
        </p:nvGraphicFramePr>
        <p:xfrm>
          <a:off xmlns:a="http://schemas.openxmlformats.org/drawingml/2006/main" x="3943350" y="4267200"/>
          <a:ext xmlns:a="http://schemas.openxmlformats.org/drawingml/2006/main" cx="66103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bace172a164dab"/>
          </a:graphicData>
        </a:graphic>
      </p:graphicFrame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10B470-C2F2-4DC1-A74C-5FD67EE0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90650"/>
            <a:ext cx="3181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371DE07-2493-462F-99A7-5BF09BBD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57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输出：最低报价 / 最低TCO / 最高综合分 / 最低风险</a:t>
            </a:r>
          </a:p>
        </p:txBody>
      </p:sp>
    </p:spTree>
    <p:extLst>
      <p:ext uri="{BB962C8B-B14F-4D97-AF65-F5344CB8AC3E}">
        <p14:creationId xmlns:p14="http://schemas.microsoft.com/office/powerpoint/2010/main" val="1974363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50DCBF-BCA4-4DD2-A294-E9F99CD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02｜采购成本核算 + 多元回归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FE6E2-90C5-4BA7-81FD-A9A2FCE1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把单价、交付、质量与服务转化为可预测的实际采购成本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EC60B-EF12-41E7-BBA8-C4DEFB81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C06DB-D7E5-4C6C-995C-A76C794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4E4CD-9FD3-47FE-BBCA-9C430720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TCO综合成本口径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F3955-E416-4FD8-B6E0-2697C995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F0AD1-DBFF-4CF3-A37E-E5FB9241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TCO =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D3671-0B9B-4CFA-86F0-3C5C74EB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360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采购金额 + 物流 + 资金 + 延期 + 质量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+ 服务损失 + 企业认可的其他成本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FC320-B753-457F-AA4D-4149F40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多元一次回归方程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CC9B2-4FC9-4097-9812-DB46A6D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31461-65EB-4CC0-9EE5-7720F035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Ŷ实际采购成本 = β₀ + β₁×采购价格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+ β₂×延期天数 + β₃×响应时间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+ β₄×不良率 + β₅×返修率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+ β₆×物流成本 + β₇×付款成本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F7396-BAFF-42A4-8D01-7AE20F0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模型输入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ECB49-B881-44B4-B526-3600C3E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23F46-2360-4C00-B9A7-F8A8A3CF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价格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36B97-25B6-45BE-9075-044BB39C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0824C-F4E0-42DF-9BEE-05DFEBA8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延期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8186D-2527-43DC-95B0-588D9D2E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523DA-4C1B-4B09-9202-72034D8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响应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24F2E-B1CB-4A2E-9198-00F97F4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0FEEF-7A37-46A0-8BF8-28F79C38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不良率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BFC19-0557-4E13-9DB8-C40910E3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E809B-648D-46B9-B713-962A36D9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返修率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06C69-A40A-4434-81F9-6A93025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CE27B-F317-4BFB-81AC-52F0FF72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物流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5E756-9CD3-4E0F-BEAE-782DE7A9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06069-1509-44D6-82C5-99B08C54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付款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1B79E-077B-4EA3-BDC7-AE5889E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输出：预测成本区间、供应商排序、系数影响与敏感性分析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E3F0E9-547C-472B-A456-678C36D1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28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回归拟合曲线（示例）</a:t>
            </a:r>
          </a:p>
        </p:txBody>
      </p:sp>
      <p:graphicFrame>
        <p:nvGraphicFramePr>
          <p:cNvPr id="72" name="Chart"/>
          <p:cNvGraphicFramePr/>
          <p:nvPr/>
        </p:nvGraphicFramePr>
        <p:xfrm>
          <a:off xmlns:a="http://schemas.openxmlformats.org/drawingml/2006/main" x="5886450" y="1809750"/>
          <a:ext xmlns:a="http://schemas.openxmlformats.org/drawingml/2006/main" cx="59055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ceff91e06446c9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384E8B-0329-4CEB-AACF-40A5B40E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95850"/>
            <a:ext cx="590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F631D4-D6B8-4E7B-9E63-1DF8B9AF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86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模型诊断与应用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41F826-1A22-436E-9C00-861B275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102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诊断：样本量、共线性、R²、MAE、置信区间、稳定性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应用：招标成本预测、供应商排序、小样本规则评分兜底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1310ED-AC50-4712-A21E-21DA52AA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943600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曲线数据为演示示例；正式模型以客户数据和确认口径训练。</a:t>
            </a:r>
          </a:p>
        </p:txBody>
      </p:sp>
    </p:spTree>
    <p:extLst>
      <p:ext uri="{BB962C8B-B14F-4D97-AF65-F5344CB8AC3E}">
        <p14:creationId xmlns:p14="http://schemas.microsoft.com/office/powerpoint/2010/main" val="504522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38BD29-35EB-4DC3-82EE-EB4080B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03｜供货分配与交货路径优化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6A110-7CC7-4653-8688-8E9BA6D1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多工厂供货路径优化，在成本、交期与风险之间求最优解</a:t>
            </a:r>
          </a:p>
        </p:txBody>
      </p:sp>
      <p:cxnSp>
        <p:nvCxnSpPr>
          <p:cNvPr id="155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B2DA7-1E5E-4032-90A9-9D240A7D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98205-F033-45C6-B849-BEAAF31F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cxnSp>
        <p:nvCxnSpPr>
          <p:cNvPr id="158" name=""/>
          <p:cNvCxnSpPr/>
          <p:nvPr/>
        </p:nvCxnSpPr>
        <p:spPr>
          <a:xfrm xmlns:a="http://schemas.openxmlformats.org/drawingml/2006/main" flipV="0">
            <a:off x="1885950" y="2209800"/>
            <a:ext cx="238125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cxnSp>
        <p:nvCxnSpPr>
          <p:cNvPr id="159" name=""/>
          <p:cNvCxnSpPr/>
          <p:nvPr/>
        </p:nvCxnSpPr>
        <p:spPr>
          <a:xfrm xmlns:a="http://schemas.openxmlformats.org/drawingml/2006/main" flipV="1">
            <a:off x="1885950" y="2762250"/>
            <a:ext cx="238125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cxnSp>
        <p:nvCxnSpPr>
          <p:cNvPr id="160" name=""/>
          <p:cNvCxnSpPr/>
          <p:nvPr/>
        </p:nvCxnSpPr>
        <p:spPr>
          <a:xfrm xmlns:a="http://schemas.openxmlformats.org/drawingml/2006/main" flipV="1">
            <a:off x="1885950" y="2762250"/>
            <a:ext cx="238125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dash"/>
          </a:ln>
        </p:spPr>
      </p:cxnSp>
      <p:cxnSp>
        <p:nvCxnSpPr>
          <p:cNvPr id="161" name=""/>
          <p:cNvCxnSpPr/>
          <p:nvPr/>
        </p:nvCxnSpPr>
        <p:spPr>
          <a:xfrm xmlns:a="http://schemas.openxmlformats.org/drawingml/2006/main" flipV="1">
            <a:off x="5276850" y="2076450"/>
            <a:ext cx="20764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cxnSp>
        <p:nvCxnSpPr>
          <p:cNvPr id="162" name=""/>
          <p:cNvCxnSpPr/>
          <p:nvPr/>
        </p:nvCxnSpPr>
        <p:spPr>
          <a:xfrm xmlns:a="http://schemas.openxmlformats.org/drawingml/2006/main" flipV="0">
            <a:off x="5276850" y="2743200"/>
            <a:ext cx="20764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cxnSp>
        <p:nvCxnSpPr>
          <p:cNvPr id="163" name=""/>
          <p:cNvCxnSpPr/>
          <p:nvPr/>
        </p:nvCxnSpPr>
        <p:spPr>
          <a:xfrm xmlns:a="http://schemas.openxmlformats.org/drawingml/2006/main" flipV="0">
            <a:off x="5276850" y="2743200"/>
            <a:ext cx="2076450" cy="1676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dash"/>
          </a:ln>
        </p:spPr>
      </p:cxnSp>
      <p:cxnSp>
        <p:nvCxnSpPr>
          <p:cNvPr id="164" name=""/>
          <p:cNvCxnSpPr/>
          <p:nvPr/>
        </p:nvCxnSpPr>
        <p:spPr>
          <a:xfrm xmlns:a="http://schemas.openxmlformats.org/drawingml/2006/main" flipV="1">
            <a:off x="5276850" y="3486150"/>
            <a:ext cx="207645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59E0B"/>
            </a:solidFill>
            <a:prstDash val="solid"/>
          </a:ln>
        </p:spPr>
      </p:cxnSp>
      <p:cxnSp>
        <p:nvCxnSpPr>
          <p:cNvPr id="165" name=""/>
          <p:cNvCxnSpPr/>
          <p:nvPr/>
        </p:nvCxnSpPr>
        <p:spPr>
          <a:xfrm xmlns:a="http://schemas.openxmlformats.org/drawingml/2006/main" flipV="0">
            <a:off x="5276850" y="4267200"/>
            <a:ext cx="20764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F8C2B-6155-45A1-ABB6-8A7AA55D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9F5E7-2B7E-4747-A9BA-4C1D22B9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网络节点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95FB5-F4D8-4F73-8812-4B5920F5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F3569-64F3-41BD-AD98-66CC94A1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198F3-CE33-430A-8C67-170E86D3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供应商S1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32061-F14E-49D6-9414-EF9E4C34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0F119-E511-4098-B80E-CE796FA5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供应商S2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B5C0A-6829-4A04-A8E1-C348290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B8B4E-CFCC-427E-8411-B60A822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供应商S3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7D516-C0D6-41BA-B4A3-4B88824F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38400"/>
            <a:ext cx="1009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39F33-F256-42A7-9535-64654FFF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384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区域仓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C2F84-8A38-4A41-A9B8-EBF28178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1009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F6B352-1167-4F14-8D84-80C4A278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中转仓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C49B0F-3994-4CE2-A38B-CA994A2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1371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22F91-DAC7-4506-A1A1-E2289860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工厂A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E1C679-8E51-49CE-9009-080B4A08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1371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893F45-C5C8-44F5-9E1F-00F44567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工厂B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2FE7A6-A7E1-490D-B549-E54A1E97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1371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D6E274-30EE-405B-B92E-4F9BD5F2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148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工厂C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A02FF-BF49-4D7E-A2BC-FA3E3779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781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2610A3-194F-4138-832A-2FAFC1E4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97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直送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27D65D-CD50-45FF-BE28-84E4BFD9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781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F3DD90-553F-4689-BEA7-1A7947BE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57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集货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05AB8B-B523-4F7B-8562-BE00971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781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FFED96-0804-41BB-9968-E0AA5F20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4342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9E0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59E0B"/>
                </a:solidFill>
                <a:latin typeface="Arial Unicode MS"/>
                <a:ea typeface="Arial Unicode MS"/>
                <a:cs typeface="Arial Unicode MS"/>
              </a:rPr>
              <a:t>中转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55E7B9-70AA-4B02-A692-DDDEF68C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26479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07E9E4-DC40-46C7-BE13-039237C2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优化目标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CA5FF-7F49-4FE3-AF6E-4ABD911F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28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总成本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0B66DB-CDC2-4953-B5AE-B6D90A14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288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采购 + 运费 + 仓储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054A92-1AEC-4E0E-93B3-2D905F07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交期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6ED871-A53D-4E93-B5F7-4C617E6E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时效 + 批次 + 频率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0EA352-BEC7-44BA-BE9A-4636C2E2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风险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C3CAE9-9717-4579-9541-CF88F24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24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产能 + 中断 + 单一来源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A5A6BD-F15B-4F11-A1BF-3272A4D4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7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碳排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4FCF57-9A83-4CB1-943F-800ED72E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71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距离 + 车型 + 装载率</a:t>
            </a:r>
          </a:p>
        </p:txBody>
      </p:sp>
      <p:cxnSp>
        <p:nvCxnSpPr>
          <p:cNvPr id="201" name=""/>
          <p:cNvCxnSpPr/>
          <p:nvPr/>
        </p:nvCxnSpPr>
        <p:spPr>
          <a:xfrm xmlns:a="http://schemas.openxmlformats.org/drawingml/2006/main" flipV="0">
            <a:off x="9410700" y="4857750"/>
            <a:ext cx="213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6EC692-992B-491F-AAC6-C32D86C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10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rPr>
              <a:t>异常发生后自动重算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305F3E-18FD-4630-BF67-79A5AE1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8324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6F60AE-B625-4F69-9696-B63E816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示例建议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5FFF9C-D94B-48D9-B2BE-6CD93AE9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S2 → 区域仓 → 工厂A/B；S1直送工厂C；保留S3作为中断备选。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D38E54-C6B2-41C8-AD8C-D8E63FB9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626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示意网络，仅用于说明优化能力。</a:t>
            </a:r>
          </a:p>
        </p:txBody>
      </p:sp>
    </p:spTree>
    <p:extLst>
      <p:ext uri="{BB962C8B-B14F-4D97-AF65-F5344CB8AC3E}">
        <p14:creationId xmlns:p14="http://schemas.microsoft.com/office/powerpoint/2010/main" val="1896951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1A80FA-5056-4698-B35E-7F24EA8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04｜AI辅助采购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7521A-15FE-498C-B57D-E93DC312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一个对话入口，完成查数、修正、优化与报告生成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E20AC-DB24-4164-B072-53734F18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C0228-9E0E-46F2-AE24-4905BBAF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FE3C5-9A30-4A19-8AF0-019B5434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905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F6E4A-A560-4DBF-96D3-F01AE66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采购经理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384C7-09D7-4A55-A9DE-3CC768E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476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67FC6-9A35-4988-8CA2-A5B8485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比较三家投标报价，按TCO重新排序，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并解释为什么不是最低单价中标。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B193B-64AA-4733-9896-0F4593FE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AI采购助手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43944-7932-485D-9E32-43B9580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353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87FFF-9DCF-4C09-8220-F5BD8FA6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已完成：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5DF93-6E91-47A3-8092-BF489981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83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1. 读取报价与历史交付、质量数据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2. 统一币种、税率、物流与付款口径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3. 调用TCO与回归模型计算并完成诊断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4. 生成供应商排序、依据与风险提示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E0E89-611E-4DE8-A1A4-DFFFF6F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5353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E9B81-5E5B-4583-A666-2C741930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下一步：生成《招标比价说明》并提交复核？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618DA-F924-407D-8FE3-6582C1A4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10150"/>
            <a:ext cx="1104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2B4F6-E6B7-449D-96B9-B04C691F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768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预览报告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52A7A-980C-45C9-B821-16EB070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47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四类高频任务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F2615-7FA3-4EE7-9036-093941AA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673FC-B759-4814-B011-7AE87BDC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查找数据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70866-152B-48A0-A71F-3484E75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按权限查询物料、报价、订单、合同、质量与市场数据</a:t>
            </a:r>
          </a:p>
        </p:txBody>
      </p:sp>
      <p:cxnSp>
        <p:nvCxnSpPr>
          <p:cNvPr id="117" name=""/>
          <p:cNvCxnSpPr/>
          <p:nvPr/>
        </p:nvCxnSpPr>
        <p:spPr>
          <a:xfrm xmlns:a="http://schemas.openxmlformats.org/drawingml/2006/main" flipV="0">
            <a:off x="6819900" y="2686050"/>
            <a:ext cx="4648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EA97F-0E05-4612-BB65-DCF0D1F9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0EDFC1-6C33-4F88-8520-E77589C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修正模型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D495D-3690-4041-B8F1-BEB33CA7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提交错误样例、调整规则或权重，发起重算/重训申请</a:t>
            </a:r>
          </a:p>
        </p:txBody>
      </p:sp>
      <p:cxnSp>
        <p:nvCxnSpPr>
          <p:cNvPr id="121" name=""/>
          <p:cNvCxnSpPr/>
          <p:nvPr/>
        </p:nvCxnSpPr>
        <p:spPr>
          <a:xfrm xmlns:a="http://schemas.openxmlformats.org/drawingml/2006/main" flipV="0">
            <a:off x="6819900" y="3600450"/>
            <a:ext cx="4648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AC3D5C-D8C8-4603-A8BB-03322E1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CE1F9C-58D8-4567-B6A3-451C38F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任务优化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131DF-794A-4C15-8B1B-73175090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分析目标、依赖与瓶颈，提出拆分、排序与替代方案</a:t>
            </a:r>
          </a:p>
        </p:txBody>
      </p:sp>
      <p:cxnSp>
        <p:nvCxnSpPr>
          <p:cNvPr id="125" name=""/>
          <p:cNvCxnSpPr/>
          <p:nvPr/>
        </p:nvCxnSpPr>
        <p:spPr>
          <a:xfrm xmlns:a="http://schemas.openxmlformats.org/drawingml/2006/main" flipV="0">
            <a:off x="6819900" y="4514850"/>
            <a:ext cx="4648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A47003-0EA5-4615-93F5-B766E822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973D20-0B85-42B2-93AF-FAB4C767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10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报告生成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9F59D-9062-41C6-88B1-BAF7349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339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生成比价说明、市场报告、谈判提纲与管理汇报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EB2AD4-A954-4B88-A27C-59BC48B1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4648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5425C0-677C-431B-809A-FAF26104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578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有影响的操作：先预览 → 用户确认 → 执行 → 审计留痕</a:t>
            </a:r>
          </a:p>
        </p:txBody>
      </p:sp>
    </p:spTree>
    <p:extLst>
      <p:ext uri="{BB962C8B-B14F-4D97-AF65-F5344CB8AC3E}">
        <p14:creationId xmlns:p14="http://schemas.microsoft.com/office/powerpoint/2010/main" val="124639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DBE0C7-E947-4761-A18D-67A42EB1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实施建议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32B5F-65C9-4047-AD90-9065040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先打通数据与比价，再升级模型与跨工厂优化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EA685-83C2-4BC9-8C2E-685FB5C0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DDB77-A2B8-4511-A745-3B8ECF3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 flipV="0">
            <a:off x="990600" y="48196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075CF-99E0-49FE-BB5A-51E02C8B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74D76-F8B2-4303-B30B-3C77CF26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52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A8916-CD9B-446A-97CD-81C49272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52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9BDD5-0459-41DC-9EE0-2AE120B9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35623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5CD2E-A3FD-4888-AD72-413A51A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一期｜基础可用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EAB95-8562-439D-BE9D-8B35DB18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建立可信数据底座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DE401-44E3-4D5D-8CF5-E2451EAE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5000D-6EAC-44CF-BFE9-AEF1EBA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AI助手、文件/API接入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88127-04BB-465E-A28C-02F41160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EDD5D-2EBD-4E97-AEE4-127D8081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报价识别与自动比价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FEFB1-C9DE-43B9-AFB6-34B14966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00395-C2A2-4BE0-A3D9-01C55B19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历史价格 / 供应商绩效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7D0C5-EA8F-485C-B5F5-DAAFB33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B3F4F-26F3-4658-A71C-B2921BF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合同审查与报告导出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56D43-421E-41E6-B470-B8C5E46F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623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D1247-39AD-430F-96D7-7E7008B4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二期｜决策增强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22BAC-58F5-47EE-A4D6-D98B88D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让采购结果可计算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503C3-38F2-44AC-8D3C-5CA47F20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579D6-4001-4696-895C-7133B48F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需求预测与情景模拟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5005C-D1E4-4B6D-9E02-0ED9225A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1AB3F-CA07-4415-BD50-F4087C6C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TCO综合成本模型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67F69-10C6-4BF3-A3AF-3CEC011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19FB1-AF04-4F9E-BE5B-DD3C32DD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多元回归招标评价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7234A-2D0B-494B-B7E1-E0DC61AD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D150F-8235-43B9-8B2B-05854895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风险预警与智能寻源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56D702-309A-4B7F-9F28-17098AC3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5623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C706B-7127-4979-9EEB-6C170C3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三期｜优化协同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1CD321-B692-429E-AF59-A34AC6D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实现跨工厂全局最优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102C49-A8DB-4307-9A56-3A605C5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E0848C-7CE2-4135-81B5-59C1938D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产业链知识图谱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98D2ED-0247-40F9-B2E8-43ED3D3A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DCFE84-78C9-4E06-8F40-760335A1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多工厂供货分配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DD1943-B2D6-4FA8-BF8A-20B8C818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EC92B4-6D59-46F6-81D7-848070B0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交货路径与中断重算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246A0E-6C95-4AE5-BB11-1538DE60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471588-6D68-4019-9B54-588BBA5A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动态采购策略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402E54-331A-4A1E-B674-E72E4FF0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阶段1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7CCA24-B9C3-4B09-83CE-ABC96F8B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6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阶段2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2B6906-7BE5-4C32-9D82-82898653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6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阶段3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793316-544C-4937-98C6-5F7B587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D5CF88-FF08-4783-AB25-336C598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建议下一步：确认一期范围、客户样例数据、TCO口径及模型策略，进入开发设计。</a:t>
            </a:r>
          </a:p>
        </p:txBody>
      </p:sp>
    </p:spTree>
    <p:extLst>
      <p:ext uri="{BB962C8B-B14F-4D97-AF65-F5344CB8AC3E}">
        <p14:creationId xmlns:p14="http://schemas.microsoft.com/office/powerpoint/2010/main" val="1767857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2026-09-03T02:13:01.3380000Z</dcterms:created>
  <dcterms:modified xsi:type="dcterms:W3CDTF">2026-09-03T02:13:01.3380000Z</dcterms:modified>
</coreProperties>
</file>